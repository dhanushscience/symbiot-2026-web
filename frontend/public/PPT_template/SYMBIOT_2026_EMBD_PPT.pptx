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Canva Sans Bold" panose="020B0604020202020204" charset="0"/>
      <p:regular r:id="rId8"/>
    </p:embeddedFont>
    <p:embeddedFont>
      <p:font typeface="Dekko" panose="020B0604020202020204" charset="0"/>
      <p:regular r:id="rId9"/>
    </p:embeddedFont>
    <p:embeddedFont>
      <p:font typeface="Montserrat" panose="00000500000000000000" pitchFamily="2" charset="0"/>
      <p:regular r:id="rId10"/>
      <p:bold r:id="rId11"/>
      <p:italic r:id="rId12"/>
      <p:boldItalic r:id="rId13"/>
    </p:embeddedFont>
    <p:embeddedFont>
      <p:font typeface="Montserrat Bold" panose="00000800000000000000" charset="0"/>
      <p:regular r:id="rId14"/>
    </p:embeddedFont>
    <p:embeddedFont>
      <p:font typeface="Montserrat Classic" panose="020B0604020202020204" charset="0"/>
      <p:regular r:id="rId15"/>
    </p:embeddedFont>
    <p:embeddedFont>
      <p:font typeface="Montserrat Classic Bold" panose="020B0604020202020204" charset="0"/>
      <p:regular r:id="rId16"/>
    </p:embeddedFont>
    <p:embeddedFont>
      <p:font typeface="Vampire Wars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A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91" autoAdjust="0"/>
    <p:restoredTop sz="94622" autoAdjust="0"/>
  </p:normalViewPr>
  <p:slideViewPr>
    <p:cSldViewPr>
      <p:cViewPr varScale="1">
        <p:scale>
          <a:sx n="70" d="100"/>
          <a:sy n="70" d="100"/>
        </p:scale>
        <p:origin x="858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TCH 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AutoShape 2">
            <a:extLst>
              <a:ext uri="{FF2B5EF4-FFF2-40B4-BE49-F238E27FC236}">
                <a16:creationId xmlns:a16="http://schemas.microsoft.com/office/drawing/2014/main" id="{7B8B0B87-5702-F961-71B8-A8423414003E}"/>
              </a:ext>
            </a:extLst>
          </p:cNvPr>
          <p:cNvSpPr/>
          <p:nvPr userDrawn="1"/>
        </p:nvSpPr>
        <p:spPr>
          <a:xfrm>
            <a:off x="589032" y="752306"/>
            <a:ext cx="5807776" cy="0"/>
          </a:xfrm>
          <a:prstGeom prst="line">
            <a:avLst/>
          </a:prstGeom>
          <a:ln w="38100" cap="flat">
            <a:gradFill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4" name="AutoShape 3">
            <a:extLst>
              <a:ext uri="{FF2B5EF4-FFF2-40B4-BE49-F238E27FC236}">
                <a16:creationId xmlns:a16="http://schemas.microsoft.com/office/drawing/2014/main" id="{75860FA0-6393-2097-2BAF-DBD855379915}"/>
              </a:ext>
            </a:extLst>
          </p:cNvPr>
          <p:cNvSpPr/>
          <p:nvPr userDrawn="1"/>
        </p:nvSpPr>
        <p:spPr>
          <a:xfrm>
            <a:off x="11689972" y="733256"/>
            <a:ext cx="5807776" cy="0"/>
          </a:xfrm>
          <a:prstGeom prst="line">
            <a:avLst/>
          </a:prstGeom>
          <a:ln w="38100" cap="flat">
            <a:gradFill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5" name="AutoShape 4">
            <a:extLst>
              <a:ext uri="{FF2B5EF4-FFF2-40B4-BE49-F238E27FC236}">
                <a16:creationId xmlns:a16="http://schemas.microsoft.com/office/drawing/2014/main" id="{604B2199-EC8E-E9B6-5B72-9ABA65383990}"/>
              </a:ext>
            </a:extLst>
          </p:cNvPr>
          <p:cNvSpPr/>
          <p:nvPr userDrawn="1"/>
        </p:nvSpPr>
        <p:spPr>
          <a:xfrm>
            <a:off x="589032" y="9860035"/>
            <a:ext cx="16908715" cy="0"/>
          </a:xfrm>
          <a:prstGeom prst="line">
            <a:avLst/>
          </a:prstGeom>
          <a:ln w="38100" cap="flat">
            <a:gradFill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Box 5">
            <a:extLst>
              <a:ext uri="{FF2B5EF4-FFF2-40B4-BE49-F238E27FC236}">
                <a16:creationId xmlns:a16="http://schemas.microsoft.com/office/drawing/2014/main" id="{CC1D2C30-2B26-CF46-F5E9-40E4B0E5B256}"/>
              </a:ext>
            </a:extLst>
          </p:cNvPr>
          <p:cNvSpPr txBox="1"/>
          <p:nvPr userDrawn="1"/>
        </p:nvSpPr>
        <p:spPr>
          <a:xfrm>
            <a:off x="928090" y="1943100"/>
            <a:ext cx="16431819" cy="6934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All teams must use the official SYMBIOT 2026 presentation template provided for their respective domain.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Each team is allowed maximum 5 slides only (including Title &amp; Outro page)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Slide must follow the order of template (Problem statement, Architecture, Prototype plan, Impact creation)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No additional slides such as title, appendix, or backup slides are allowed.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Teams must use the correct domain template Embedded, VLSI, Campus innovation.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Keep content clear and concise.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Use bullet points instead of paragraphs.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Include at least one diagram or architecture figure explaining your solution.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Images, prototype photos, and simulation screenshots are allowed.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Do not remove SYMBIOT logos or branding elements from the template.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Final presentation must be submitted in PDF format.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File name format: </a:t>
            </a:r>
            <a:r>
              <a:rPr lang="en-US" sz="2683" b="1" spc="134" dirty="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“</a:t>
            </a:r>
            <a:r>
              <a:rPr lang="en-US" sz="2683" b="1" spc="134" dirty="0" err="1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TeamName_Domain</a:t>
            </a:r>
            <a:r>
              <a:rPr lang="en-US" sz="2683" b="1" spc="134" dirty="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”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Please remove this slide before submitting your final presentation.</a:t>
            </a:r>
          </a:p>
          <a:p>
            <a:pPr algn="l">
              <a:lnSpc>
                <a:spcPts val="3381"/>
              </a:lnSpc>
            </a:pPr>
            <a:endParaRPr lang="en-US" sz="2683" spc="134" dirty="0">
              <a:solidFill>
                <a:srgbClr val="F5F5DC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</p:txBody>
      </p:sp>
      <p:sp>
        <p:nvSpPr>
          <p:cNvPr id="27" name="Freeform 6">
            <a:extLst>
              <a:ext uri="{FF2B5EF4-FFF2-40B4-BE49-F238E27FC236}">
                <a16:creationId xmlns:a16="http://schemas.microsoft.com/office/drawing/2014/main" id="{0F51F9B2-D5FD-0949-4BC0-D118DE9063D5}"/>
              </a:ext>
            </a:extLst>
          </p:cNvPr>
          <p:cNvSpPr/>
          <p:nvPr userDrawn="1"/>
        </p:nvSpPr>
        <p:spPr>
          <a:xfrm rot="-282855">
            <a:off x="-10422646" y="-1540033"/>
            <a:ext cx="16230600" cy="5680710"/>
          </a:xfrm>
          <a:custGeom>
            <a:avLst/>
            <a:gdLst/>
            <a:ahLst/>
            <a:cxnLst/>
            <a:rect l="l" t="t" r="r" b="b"/>
            <a:pathLst>
              <a:path w="16230600" h="5680710">
                <a:moveTo>
                  <a:pt x="0" y="0"/>
                </a:moveTo>
                <a:lnTo>
                  <a:pt x="16230600" y="0"/>
                </a:lnTo>
                <a:lnTo>
                  <a:pt x="16230600" y="5680710"/>
                </a:lnTo>
                <a:lnTo>
                  <a:pt x="0" y="56807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8" name="TextBox 7">
            <a:extLst>
              <a:ext uri="{FF2B5EF4-FFF2-40B4-BE49-F238E27FC236}">
                <a16:creationId xmlns:a16="http://schemas.microsoft.com/office/drawing/2014/main" id="{489D5DDF-9B18-923A-13A4-7408FE05718A}"/>
              </a:ext>
            </a:extLst>
          </p:cNvPr>
          <p:cNvSpPr txBox="1"/>
          <p:nvPr userDrawn="1"/>
        </p:nvSpPr>
        <p:spPr>
          <a:xfrm>
            <a:off x="6396808" y="287168"/>
            <a:ext cx="5293164" cy="863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6999"/>
              </a:lnSpc>
            </a:pPr>
            <a:r>
              <a:rPr lang="en-US" sz="4999">
                <a:solidFill>
                  <a:srgbClr val="FFFFFF"/>
                </a:solidFill>
                <a:latin typeface="Vampire Wars"/>
                <a:ea typeface="Vampire Wars"/>
                <a:cs typeface="Vampire Wars"/>
                <a:sym typeface="Vampire Wars"/>
              </a:rPr>
              <a:t>Watch out !!</a:t>
            </a:r>
          </a:p>
        </p:txBody>
      </p:sp>
      <p:sp>
        <p:nvSpPr>
          <p:cNvPr id="29" name="TextBox 8">
            <a:extLst>
              <a:ext uri="{FF2B5EF4-FFF2-40B4-BE49-F238E27FC236}">
                <a16:creationId xmlns:a16="http://schemas.microsoft.com/office/drawing/2014/main" id="{86622B3A-3B9A-163A-92D5-E8419FA04085}"/>
              </a:ext>
            </a:extLst>
          </p:cNvPr>
          <p:cNvSpPr txBox="1"/>
          <p:nvPr userDrawn="1"/>
        </p:nvSpPr>
        <p:spPr>
          <a:xfrm>
            <a:off x="1663606" y="8885427"/>
            <a:ext cx="14759569" cy="390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3189"/>
              </a:lnSpc>
            </a:pPr>
            <a:r>
              <a:rPr lang="en-US" sz="2531" spc="126">
                <a:solidFill>
                  <a:srgbClr val="F5F5DC"/>
                </a:solidFill>
                <a:latin typeface="Dekko"/>
                <a:ea typeface="Dekko"/>
                <a:cs typeface="Dekko"/>
                <a:sym typeface="Dekko"/>
              </a:rPr>
              <a:t>“AI can generate words, but innovation comes from human curiosity and creativity”</a:t>
            </a:r>
          </a:p>
        </p:txBody>
      </p:sp>
      <p:sp>
        <p:nvSpPr>
          <p:cNvPr id="30" name="Freeform 9">
            <a:extLst>
              <a:ext uri="{FF2B5EF4-FFF2-40B4-BE49-F238E27FC236}">
                <a16:creationId xmlns:a16="http://schemas.microsoft.com/office/drawing/2014/main" id="{3B7435AE-7023-8777-BD29-573347EFC5F9}"/>
              </a:ext>
            </a:extLst>
          </p:cNvPr>
          <p:cNvSpPr/>
          <p:nvPr userDrawn="1"/>
        </p:nvSpPr>
        <p:spPr>
          <a:xfrm rot="-439583">
            <a:off x="9439951" y="7233703"/>
            <a:ext cx="16230600" cy="5680710"/>
          </a:xfrm>
          <a:custGeom>
            <a:avLst/>
            <a:gdLst/>
            <a:ahLst/>
            <a:cxnLst/>
            <a:rect l="l" t="t" r="r" b="b"/>
            <a:pathLst>
              <a:path w="16230600" h="5680710">
                <a:moveTo>
                  <a:pt x="0" y="0"/>
                </a:moveTo>
                <a:lnTo>
                  <a:pt x="16230600" y="0"/>
                </a:lnTo>
                <a:lnTo>
                  <a:pt x="16230600" y="5680710"/>
                </a:lnTo>
                <a:lnTo>
                  <a:pt x="0" y="56807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3EF96C24-E17B-FE30-5F3F-A5AA1A4C2608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73DF9737-21BC-2AF4-449C-22EBF6AB6544}"/>
              </a:ext>
            </a:extLst>
          </p:cNvPr>
          <p:cNvGrpSpPr/>
          <p:nvPr userDrawn="1"/>
        </p:nvGrpSpPr>
        <p:grpSpPr>
          <a:xfrm rot="5400000">
            <a:off x="5404474" y="4252438"/>
            <a:ext cx="1367477" cy="3200401"/>
            <a:chOff x="0" y="0"/>
            <a:chExt cx="78762" cy="192143"/>
          </a:xfrm>
        </p:grpSpPr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5189B822-15A1-4AEA-FD94-292351C834F0}"/>
                </a:ext>
              </a:extLst>
            </p:cNvPr>
            <p:cNvSpPr/>
            <p:nvPr/>
          </p:nvSpPr>
          <p:spPr>
            <a:xfrm>
              <a:off x="0" y="0"/>
              <a:ext cx="78762" cy="192143"/>
            </a:xfrm>
            <a:custGeom>
              <a:avLst/>
              <a:gdLst/>
              <a:ahLst/>
              <a:cxnLst/>
              <a:rect l="l" t="t" r="r" b="b"/>
              <a:pathLst>
                <a:path w="78762" h="192143">
                  <a:moveTo>
                    <a:pt x="39381" y="0"/>
                  </a:moveTo>
                  <a:lnTo>
                    <a:pt x="39381" y="0"/>
                  </a:lnTo>
                  <a:cubicBezTo>
                    <a:pt x="49825" y="0"/>
                    <a:pt x="59842" y="4149"/>
                    <a:pt x="67227" y="11534"/>
                  </a:cubicBezTo>
                  <a:cubicBezTo>
                    <a:pt x="74613" y="18920"/>
                    <a:pt x="78762" y="28936"/>
                    <a:pt x="78762" y="39381"/>
                  </a:cubicBezTo>
                  <a:lnTo>
                    <a:pt x="78762" y="152762"/>
                  </a:lnTo>
                  <a:cubicBezTo>
                    <a:pt x="78762" y="163206"/>
                    <a:pt x="74613" y="173223"/>
                    <a:pt x="67227" y="180608"/>
                  </a:cubicBezTo>
                  <a:cubicBezTo>
                    <a:pt x="59842" y="187994"/>
                    <a:pt x="49825" y="192143"/>
                    <a:pt x="39381" y="192143"/>
                  </a:cubicBezTo>
                  <a:lnTo>
                    <a:pt x="39381" y="192143"/>
                  </a:lnTo>
                  <a:cubicBezTo>
                    <a:pt x="28936" y="192143"/>
                    <a:pt x="18920" y="187994"/>
                    <a:pt x="11534" y="180608"/>
                  </a:cubicBezTo>
                  <a:cubicBezTo>
                    <a:pt x="4149" y="173223"/>
                    <a:pt x="0" y="163206"/>
                    <a:pt x="0" y="152762"/>
                  </a:cubicBezTo>
                  <a:lnTo>
                    <a:pt x="0" y="39381"/>
                  </a:lnTo>
                  <a:cubicBezTo>
                    <a:pt x="0" y="28936"/>
                    <a:pt x="4149" y="18920"/>
                    <a:pt x="11534" y="11534"/>
                  </a:cubicBezTo>
                  <a:cubicBezTo>
                    <a:pt x="18920" y="4149"/>
                    <a:pt x="28936" y="0"/>
                    <a:pt x="39381" y="0"/>
                  </a:cubicBezTo>
                  <a:close/>
                </a:path>
              </a:pathLst>
            </a:custGeom>
            <a:solidFill>
              <a:srgbClr val="F5F5DC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5">
              <a:extLst>
                <a:ext uri="{FF2B5EF4-FFF2-40B4-BE49-F238E27FC236}">
                  <a16:creationId xmlns:a16="http://schemas.microsoft.com/office/drawing/2014/main" id="{271BABB1-5A83-21C1-1232-EF47194E1F2D}"/>
                </a:ext>
              </a:extLst>
            </p:cNvPr>
            <p:cNvSpPr txBox="1"/>
            <p:nvPr/>
          </p:nvSpPr>
          <p:spPr>
            <a:xfrm>
              <a:off x="0" y="-28575"/>
              <a:ext cx="78762" cy="2207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1" name="Freeform 6">
            <a:extLst>
              <a:ext uri="{FF2B5EF4-FFF2-40B4-BE49-F238E27FC236}">
                <a16:creationId xmlns:a16="http://schemas.microsoft.com/office/drawing/2014/main" id="{2A775015-C671-11EC-C8F7-512552A89B95}"/>
              </a:ext>
            </a:extLst>
          </p:cNvPr>
          <p:cNvSpPr/>
          <p:nvPr userDrawn="1"/>
        </p:nvSpPr>
        <p:spPr>
          <a:xfrm rot="10800000" flipV="1">
            <a:off x="0" y="3260354"/>
            <a:ext cx="18288000" cy="5692140"/>
          </a:xfrm>
          <a:custGeom>
            <a:avLst/>
            <a:gdLst/>
            <a:ahLst/>
            <a:cxnLst/>
            <a:rect l="l" t="t" r="r" b="b"/>
            <a:pathLst>
              <a:path w="18288000" h="5692140">
                <a:moveTo>
                  <a:pt x="0" y="5692140"/>
                </a:moveTo>
                <a:lnTo>
                  <a:pt x="18288000" y="5692140"/>
                </a:lnTo>
                <a:lnTo>
                  <a:pt x="18288000" y="0"/>
                </a:lnTo>
                <a:lnTo>
                  <a:pt x="0" y="0"/>
                </a:lnTo>
                <a:lnTo>
                  <a:pt x="0" y="5692140"/>
                </a:lnTo>
                <a:close/>
              </a:path>
            </a:pathLst>
          </a:custGeom>
          <a:blipFill>
            <a:blip r:embed="rId3">
              <a:alphaModFix amt="21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2" name="Group 7">
            <a:extLst>
              <a:ext uri="{FF2B5EF4-FFF2-40B4-BE49-F238E27FC236}">
                <a16:creationId xmlns:a16="http://schemas.microsoft.com/office/drawing/2014/main" id="{C4712668-74B7-6161-1F8C-6E1AE941AB4C}"/>
              </a:ext>
            </a:extLst>
          </p:cNvPr>
          <p:cNvGrpSpPr/>
          <p:nvPr userDrawn="1"/>
        </p:nvGrpSpPr>
        <p:grpSpPr>
          <a:xfrm rot="5400000">
            <a:off x="8379643" y="378643"/>
            <a:ext cx="1528715" cy="18288000"/>
            <a:chOff x="0" y="0"/>
            <a:chExt cx="32644" cy="390515"/>
          </a:xfrm>
        </p:grpSpPr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B806A758-F424-4F58-2383-F58394FA6535}"/>
                </a:ext>
              </a:extLst>
            </p:cNvPr>
            <p:cNvSpPr/>
            <p:nvPr/>
          </p:nvSpPr>
          <p:spPr>
            <a:xfrm>
              <a:off x="0" y="0"/>
              <a:ext cx="32644" cy="390515"/>
            </a:xfrm>
            <a:custGeom>
              <a:avLst/>
              <a:gdLst/>
              <a:ahLst/>
              <a:cxnLst/>
              <a:rect l="l" t="t" r="r" b="b"/>
              <a:pathLst>
                <a:path w="32644" h="390515">
                  <a:moveTo>
                    <a:pt x="0" y="0"/>
                  </a:moveTo>
                  <a:lnTo>
                    <a:pt x="32644" y="0"/>
                  </a:lnTo>
                  <a:lnTo>
                    <a:pt x="32644" y="390515"/>
                  </a:lnTo>
                  <a:lnTo>
                    <a:pt x="0" y="390515"/>
                  </a:lnTo>
                  <a:close/>
                </a:path>
              </a:pathLst>
            </a:custGeom>
            <a:gradFill rotWithShape="1"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9">
              <a:extLst>
                <a:ext uri="{FF2B5EF4-FFF2-40B4-BE49-F238E27FC236}">
                  <a16:creationId xmlns:a16="http://schemas.microsoft.com/office/drawing/2014/main" id="{5EE080A2-DB61-D246-AC88-886BA73ACCEA}"/>
                </a:ext>
              </a:extLst>
            </p:cNvPr>
            <p:cNvSpPr txBox="1"/>
            <p:nvPr/>
          </p:nvSpPr>
          <p:spPr>
            <a:xfrm>
              <a:off x="0" y="-28575"/>
              <a:ext cx="32644" cy="419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5" name="Freeform 10">
            <a:extLst>
              <a:ext uri="{FF2B5EF4-FFF2-40B4-BE49-F238E27FC236}">
                <a16:creationId xmlns:a16="http://schemas.microsoft.com/office/drawing/2014/main" id="{584477CF-965D-1D0E-C985-C35B95D55D8B}"/>
              </a:ext>
            </a:extLst>
          </p:cNvPr>
          <p:cNvSpPr/>
          <p:nvPr userDrawn="1"/>
        </p:nvSpPr>
        <p:spPr>
          <a:xfrm>
            <a:off x="559279" y="544431"/>
            <a:ext cx="1339815" cy="1286599"/>
          </a:xfrm>
          <a:custGeom>
            <a:avLst/>
            <a:gdLst/>
            <a:ahLst/>
            <a:cxnLst/>
            <a:rect l="l" t="t" r="r" b="b"/>
            <a:pathLst>
              <a:path w="1339815" h="1286599">
                <a:moveTo>
                  <a:pt x="0" y="0"/>
                </a:moveTo>
                <a:lnTo>
                  <a:pt x="1339815" y="0"/>
                </a:lnTo>
                <a:lnTo>
                  <a:pt x="1339815" y="1286599"/>
                </a:lnTo>
                <a:lnTo>
                  <a:pt x="0" y="12865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188" t="-1879" r="-10609" b="-2287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AutoShape 11">
            <a:extLst>
              <a:ext uri="{FF2B5EF4-FFF2-40B4-BE49-F238E27FC236}">
                <a16:creationId xmlns:a16="http://schemas.microsoft.com/office/drawing/2014/main" id="{293AA60D-015E-43CA-53F0-A06CDCBA4195}"/>
              </a:ext>
            </a:extLst>
          </p:cNvPr>
          <p:cNvSpPr/>
          <p:nvPr userDrawn="1"/>
        </p:nvSpPr>
        <p:spPr>
          <a:xfrm>
            <a:off x="2067820" y="643975"/>
            <a:ext cx="0" cy="1159577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6EC5CF76-EAD6-ECF9-FA13-452C85C70D10}"/>
              </a:ext>
            </a:extLst>
          </p:cNvPr>
          <p:cNvSpPr/>
          <p:nvPr userDrawn="1"/>
        </p:nvSpPr>
        <p:spPr>
          <a:xfrm>
            <a:off x="10857478" y="3654992"/>
            <a:ext cx="6858914" cy="6133012"/>
          </a:xfrm>
          <a:custGeom>
            <a:avLst/>
            <a:gdLst/>
            <a:ahLst/>
            <a:cxnLst/>
            <a:rect l="l" t="t" r="r" b="b"/>
            <a:pathLst>
              <a:path w="6858914" h="6133012">
                <a:moveTo>
                  <a:pt x="0" y="0"/>
                </a:moveTo>
                <a:lnTo>
                  <a:pt x="6858914" y="0"/>
                </a:lnTo>
                <a:lnTo>
                  <a:pt x="6858914" y="6133013"/>
                </a:lnTo>
                <a:lnTo>
                  <a:pt x="0" y="61330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Freeform 13">
            <a:extLst>
              <a:ext uri="{FF2B5EF4-FFF2-40B4-BE49-F238E27FC236}">
                <a16:creationId xmlns:a16="http://schemas.microsoft.com/office/drawing/2014/main" id="{D35BCECC-11E8-9038-4E47-C474C0BA4216}"/>
              </a:ext>
            </a:extLst>
          </p:cNvPr>
          <p:cNvSpPr/>
          <p:nvPr userDrawn="1"/>
        </p:nvSpPr>
        <p:spPr>
          <a:xfrm>
            <a:off x="-931000" y="8758285"/>
            <a:ext cx="3171059" cy="1528715"/>
          </a:xfrm>
          <a:custGeom>
            <a:avLst/>
            <a:gdLst/>
            <a:ahLst/>
            <a:cxnLst/>
            <a:rect l="l" t="t" r="r" b="b"/>
            <a:pathLst>
              <a:path w="3171059" h="1528715">
                <a:moveTo>
                  <a:pt x="0" y="0"/>
                </a:moveTo>
                <a:lnTo>
                  <a:pt x="3171059" y="0"/>
                </a:lnTo>
                <a:lnTo>
                  <a:pt x="3171059" y="1528715"/>
                </a:lnTo>
                <a:lnTo>
                  <a:pt x="0" y="152871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TextBox 14">
            <a:extLst>
              <a:ext uri="{FF2B5EF4-FFF2-40B4-BE49-F238E27FC236}">
                <a16:creationId xmlns:a16="http://schemas.microsoft.com/office/drawing/2014/main" id="{E05F45C4-74F2-9644-6307-95D53E85A2CF}"/>
              </a:ext>
            </a:extLst>
          </p:cNvPr>
          <p:cNvSpPr txBox="1"/>
          <p:nvPr userDrawn="1"/>
        </p:nvSpPr>
        <p:spPr>
          <a:xfrm>
            <a:off x="2335380" y="596350"/>
            <a:ext cx="6127460" cy="1178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7"/>
              </a:lnSpc>
            </a:pPr>
            <a:r>
              <a:rPr lang="en-US" sz="2348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Vidyavardhaka College of Engineering</a:t>
            </a:r>
          </a:p>
          <a:p>
            <a:pPr algn="l">
              <a:lnSpc>
                <a:spcPts val="2138"/>
              </a:lnSpc>
            </a:pPr>
            <a:r>
              <a:rPr lang="en-US" sz="152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Autonomous Institute, Affiliated to VTU, Belagavi</a:t>
            </a:r>
          </a:p>
          <a:p>
            <a:pPr algn="l">
              <a:lnSpc>
                <a:spcPts val="2138"/>
              </a:lnSpc>
            </a:pPr>
            <a:r>
              <a:rPr lang="en-US" sz="152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Accredited by NBA &amp; NAAC with A Grade</a:t>
            </a:r>
          </a:p>
          <a:p>
            <a:pPr algn="l">
              <a:lnSpc>
                <a:spcPts val="2138"/>
              </a:lnSpc>
            </a:pPr>
            <a:r>
              <a:rPr lang="en-US" sz="152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Gokulam 3rd Stage, Mysuru – 570 002, Karnataka, India</a:t>
            </a:r>
          </a:p>
        </p:txBody>
      </p:sp>
      <p:sp>
        <p:nvSpPr>
          <p:cNvPr id="20" name="TextBox 15">
            <a:extLst>
              <a:ext uri="{FF2B5EF4-FFF2-40B4-BE49-F238E27FC236}">
                <a16:creationId xmlns:a16="http://schemas.microsoft.com/office/drawing/2014/main" id="{71959324-91ED-B426-EB6E-75A5ECCD4B71}"/>
              </a:ext>
            </a:extLst>
          </p:cNvPr>
          <p:cNvSpPr txBox="1"/>
          <p:nvPr userDrawn="1"/>
        </p:nvSpPr>
        <p:spPr>
          <a:xfrm>
            <a:off x="3554497" y="9066788"/>
            <a:ext cx="6980930" cy="873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30"/>
              </a:lnSpc>
            </a:pPr>
            <a:r>
              <a:rPr lang="en-US" sz="5579" b="1" spc="278" dirty="0">
                <a:solidFill>
                  <a:srgbClr val="11163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APRIL 24-25 2026</a:t>
            </a:r>
          </a:p>
        </p:txBody>
      </p:sp>
      <p:sp>
        <p:nvSpPr>
          <p:cNvPr id="21" name="Freeform 16">
            <a:extLst>
              <a:ext uri="{FF2B5EF4-FFF2-40B4-BE49-F238E27FC236}">
                <a16:creationId xmlns:a16="http://schemas.microsoft.com/office/drawing/2014/main" id="{D261FF74-5771-3D81-848A-34B6F8C0710D}"/>
              </a:ext>
            </a:extLst>
          </p:cNvPr>
          <p:cNvSpPr/>
          <p:nvPr userDrawn="1"/>
        </p:nvSpPr>
        <p:spPr>
          <a:xfrm>
            <a:off x="1919188" y="2245844"/>
            <a:ext cx="8338052" cy="2635775"/>
          </a:xfrm>
          <a:custGeom>
            <a:avLst/>
            <a:gdLst/>
            <a:ahLst/>
            <a:cxnLst/>
            <a:rect l="l" t="t" r="r" b="b"/>
            <a:pathLst>
              <a:path w="8338052" h="2635775">
                <a:moveTo>
                  <a:pt x="0" y="0"/>
                </a:moveTo>
                <a:lnTo>
                  <a:pt x="8338052" y="0"/>
                </a:lnTo>
                <a:lnTo>
                  <a:pt x="8338052" y="2635775"/>
                </a:lnTo>
                <a:lnTo>
                  <a:pt x="0" y="26357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r="-8212" b="-25517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22" name="Group 17">
            <a:extLst>
              <a:ext uri="{FF2B5EF4-FFF2-40B4-BE49-F238E27FC236}">
                <a16:creationId xmlns:a16="http://schemas.microsoft.com/office/drawing/2014/main" id="{F792C190-6E2F-3FBE-C847-E4FAC0A64F1D}"/>
              </a:ext>
            </a:extLst>
          </p:cNvPr>
          <p:cNvGrpSpPr/>
          <p:nvPr userDrawn="1"/>
        </p:nvGrpSpPr>
        <p:grpSpPr>
          <a:xfrm rot="5400000">
            <a:off x="5076296" y="2316367"/>
            <a:ext cx="2519967" cy="9353773"/>
            <a:chOff x="0" y="-28575"/>
            <a:chExt cx="145141" cy="538742"/>
          </a:xfrm>
        </p:grpSpPr>
        <p:sp>
          <p:nvSpPr>
            <p:cNvPr id="23" name="Freeform 18">
              <a:extLst>
                <a:ext uri="{FF2B5EF4-FFF2-40B4-BE49-F238E27FC236}">
                  <a16:creationId xmlns:a16="http://schemas.microsoft.com/office/drawing/2014/main" id="{4FBDD04D-E049-1811-CAE9-88D619570AE3}"/>
                </a:ext>
              </a:extLst>
            </p:cNvPr>
            <p:cNvSpPr/>
            <p:nvPr/>
          </p:nvSpPr>
          <p:spPr>
            <a:xfrm>
              <a:off x="0" y="0"/>
              <a:ext cx="145141" cy="510167"/>
            </a:xfrm>
            <a:custGeom>
              <a:avLst/>
              <a:gdLst/>
              <a:ahLst/>
              <a:cxnLst/>
              <a:rect l="l" t="t" r="r" b="b"/>
              <a:pathLst>
                <a:path w="145141" h="510167">
                  <a:moveTo>
                    <a:pt x="60005" y="0"/>
                  </a:moveTo>
                  <a:lnTo>
                    <a:pt x="85136" y="0"/>
                  </a:lnTo>
                  <a:cubicBezTo>
                    <a:pt x="101050" y="0"/>
                    <a:pt x="116313" y="6322"/>
                    <a:pt x="127566" y="17575"/>
                  </a:cubicBezTo>
                  <a:cubicBezTo>
                    <a:pt x="138819" y="28828"/>
                    <a:pt x="145141" y="44090"/>
                    <a:pt x="145141" y="60005"/>
                  </a:cubicBezTo>
                  <a:lnTo>
                    <a:pt x="145141" y="450163"/>
                  </a:lnTo>
                  <a:cubicBezTo>
                    <a:pt x="145141" y="483302"/>
                    <a:pt x="118276" y="510167"/>
                    <a:pt x="85136" y="510167"/>
                  </a:cubicBezTo>
                  <a:lnTo>
                    <a:pt x="60005" y="510167"/>
                  </a:lnTo>
                  <a:cubicBezTo>
                    <a:pt x="44090" y="510167"/>
                    <a:pt x="28828" y="503845"/>
                    <a:pt x="17575" y="492592"/>
                  </a:cubicBezTo>
                  <a:cubicBezTo>
                    <a:pt x="6322" y="481339"/>
                    <a:pt x="0" y="466077"/>
                    <a:pt x="0" y="450163"/>
                  </a:cubicBezTo>
                  <a:lnTo>
                    <a:pt x="0" y="60005"/>
                  </a:lnTo>
                  <a:cubicBezTo>
                    <a:pt x="0" y="44090"/>
                    <a:pt x="6322" y="28828"/>
                    <a:pt x="17575" y="17575"/>
                  </a:cubicBezTo>
                  <a:cubicBezTo>
                    <a:pt x="28828" y="6322"/>
                    <a:pt x="44090" y="0"/>
                    <a:pt x="60005" y="0"/>
                  </a:cubicBezTo>
                  <a:close/>
                </a:path>
              </a:pathLst>
            </a:custGeom>
            <a:solidFill>
              <a:srgbClr val="F5F5DC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4" name="TextBox 19">
              <a:extLst>
                <a:ext uri="{FF2B5EF4-FFF2-40B4-BE49-F238E27FC236}">
                  <a16:creationId xmlns:a16="http://schemas.microsoft.com/office/drawing/2014/main" id="{871E1440-443E-05DD-6678-09CA8994B0F6}"/>
                </a:ext>
              </a:extLst>
            </p:cNvPr>
            <p:cNvSpPr txBox="1"/>
            <p:nvPr/>
          </p:nvSpPr>
          <p:spPr>
            <a:xfrm>
              <a:off x="0" y="-28575"/>
              <a:ext cx="145141" cy="5387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27" name="TextBox 22">
            <a:extLst>
              <a:ext uri="{FF2B5EF4-FFF2-40B4-BE49-F238E27FC236}">
                <a16:creationId xmlns:a16="http://schemas.microsoft.com/office/drawing/2014/main" id="{3D78AC44-1498-BDE5-65E1-79007DA0C937}"/>
              </a:ext>
            </a:extLst>
          </p:cNvPr>
          <p:cNvSpPr txBox="1"/>
          <p:nvPr userDrawn="1"/>
        </p:nvSpPr>
        <p:spPr>
          <a:xfrm>
            <a:off x="3359893" y="5372100"/>
            <a:ext cx="5456640" cy="4058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07"/>
              </a:lnSpc>
            </a:pPr>
            <a:r>
              <a:rPr lang="en-US" sz="2783" b="1" spc="139" dirty="0">
                <a:solidFill>
                  <a:srgbClr val="00BF63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EMBEDDED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2">
            <a:extLst>
              <a:ext uri="{FF2B5EF4-FFF2-40B4-BE49-F238E27FC236}">
                <a16:creationId xmlns:a16="http://schemas.microsoft.com/office/drawing/2014/main" id="{DE3ED481-E6C0-76F4-A9A2-DDB44491906C}"/>
              </a:ext>
            </a:extLst>
          </p:cNvPr>
          <p:cNvGrpSpPr/>
          <p:nvPr userDrawn="1"/>
        </p:nvGrpSpPr>
        <p:grpSpPr>
          <a:xfrm rot="5400000">
            <a:off x="8722712" y="721712"/>
            <a:ext cx="842576" cy="18288000"/>
            <a:chOff x="0" y="0"/>
            <a:chExt cx="17992" cy="390515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5774D2C9-64EA-94AF-6BB7-F36D3880D7EF}"/>
                </a:ext>
              </a:extLst>
            </p:cNvPr>
            <p:cNvSpPr/>
            <p:nvPr/>
          </p:nvSpPr>
          <p:spPr>
            <a:xfrm>
              <a:off x="0" y="0"/>
              <a:ext cx="17992" cy="390515"/>
            </a:xfrm>
            <a:custGeom>
              <a:avLst/>
              <a:gdLst/>
              <a:ahLst/>
              <a:cxnLst/>
              <a:rect l="l" t="t" r="r" b="b"/>
              <a:pathLst>
                <a:path w="17992" h="390515">
                  <a:moveTo>
                    <a:pt x="0" y="0"/>
                  </a:moveTo>
                  <a:lnTo>
                    <a:pt x="17992" y="0"/>
                  </a:lnTo>
                  <a:lnTo>
                    <a:pt x="17992" y="390515"/>
                  </a:lnTo>
                  <a:lnTo>
                    <a:pt x="0" y="390515"/>
                  </a:lnTo>
                  <a:close/>
                </a:path>
              </a:pathLst>
            </a:custGeom>
            <a:gradFill rotWithShape="1"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4">
              <a:extLst>
                <a:ext uri="{FF2B5EF4-FFF2-40B4-BE49-F238E27FC236}">
                  <a16:creationId xmlns:a16="http://schemas.microsoft.com/office/drawing/2014/main" id="{3573D433-FF3D-F512-2FA0-1C599AD80046}"/>
                </a:ext>
              </a:extLst>
            </p:cNvPr>
            <p:cNvSpPr txBox="1"/>
            <p:nvPr/>
          </p:nvSpPr>
          <p:spPr>
            <a:xfrm>
              <a:off x="0" y="-28575"/>
              <a:ext cx="17992" cy="419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0" name="TextBox 5">
            <a:extLst>
              <a:ext uri="{FF2B5EF4-FFF2-40B4-BE49-F238E27FC236}">
                <a16:creationId xmlns:a16="http://schemas.microsoft.com/office/drawing/2014/main" id="{DAAFBE01-81C2-6ECD-2261-F6DE58385761}"/>
              </a:ext>
            </a:extLst>
          </p:cNvPr>
          <p:cNvSpPr txBox="1"/>
          <p:nvPr userDrawn="1"/>
        </p:nvSpPr>
        <p:spPr>
          <a:xfrm>
            <a:off x="519251" y="307627"/>
            <a:ext cx="6460669" cy="863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>
                <a:solidFill>
                  <a:srgbClr val="FFFFFF"/>
                </a:solidFill>
                <a:latin typeface="Vampire Wars"/>
                <a:ea typeface="Vampire Wars"/>
                <a:cs typeface="Vampire Wars"/>
                <a:sym typeface="Vampire Wars"/>
              </a:rPr>
              <a:t>problem statement</a:t>
            </a: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1547A0DB-1474-D564-B4C1-58119A73ADC6}"/>
              </a:ext>
            </a:extLst>
          </p:cNvPr>
          <p:cNvSpPr txBox="1"/>
          <p:nvPr userDrawn="1"/>
        </p:nvSpPr>
        <p:spPr>
          <a:xfrm>
            <a:off x="6865620" y="9715500"/>
            <a:ext cx="455676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 b="1" spc="10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EMBEDDED DOMAIN</a:t>
            </a: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27078A1E-3C49-37D3-C3BF-8FAFB828B86B}"/>
              </a:ext>
            </a:extLst>
          </p:cNvPr>
          <p:cNvSpPr txBox="1"/>
          <p:nvPr userDrawn="1"/>
        </p:nvSpPr>
        <p:spPr>
          <a:xfrm>
            <a:off x="14343815" y="9697119"/>
            <a:ext cx="2593998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000" b="1" spc="10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PAGE 1</a:t>
            </a: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7D3C03E1-149B-AE18-4FF5-7AF4BAE71982}"/>
              </a:ext>
            </a:extLst>
          </p:cNvPr>
          <p:cNvSpPr txBox="1"/>
          <p:nvPr userDrawn="1"/>
        </p:nvSpPr>
        <p:spPr>
          <a:xfrm>
            <a:off x="1299426" y="9715500"/>
            <a:ext cx="455676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000" b="1" spc="10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TEAM NAME</a:t>
            </a:r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9381246A-CA79-4FE0-EFE8-F72FB07D0706}"/>
              </a:ext>
            </a:extLst>
          </p:cNvPr>
          <p:cNvSpPr/>
          <p:nvPr userDrawn="1"/>
        </p:nvSpPr>
        <p:spPr>
          <a:xfrm>
            <a:off x="-873890" y="9462804"/>
            <a:ext cx="1747781" cy="842576"/>
          </a:xfrm>
          <a:custGeom>
            <a:avLst/>
            <a:gdLst/>
            <a:ahLst/>
            <a:cxnLst/>
            <a:rect l="l" t="t" r="r" b="b"/>
            <a:pathLst>
              <a:path w="1747781" h="842576">
                <a:moveTo>
                  <a:pt x="0" y="0"/>
                </a:moveTo>
                <a:lnTo>
                  <a:pt x="1747780" y="0"/>
                </a:lnTo>
                <a:lnTo>
                  <a:pt x="1747780" y="842577"/>
                </a:lnTo>
                <a:lnTo>
                  <a:pt x="0" y="8425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CC6172D2-E702-2830-E25E-E94534C7C96D}"/>
              </a:ext>
            </a:extLst>
          </p:cNvPr>
          <p:cNvSpPr/>
          <p:nvPr userDrawn="1"/>
        </p:nvSpPr>
        <p:spPr>
          <a:xfrm flipH="1">
            <a:off x="17411700" y="9444424"/>
            <a:ext cx="1747781" cy="842576"/>
          </a:xfrm>
          <a:custGeom>
            <a:avLst/>
            <a:gdLst/>
            <a:ahLst/>
            <a:cxnLst/>
            <a:rect l="l" t="t" r="r" b="b"/>
            <a:pathLst>
              <a:path w="1747781" h="842576">
                <a:moveTo>
                  <a:pt x="1747781" y="0"/>
                </a:moveTo>
                <a:lnTo>
                  <a:pt x="0" y="0"/>
                </a:lnTo>
                <a:lnTo>
                  <a:pt x="0" y="842576"/>
                </a:lnTo>
                <a:lnTo>
                  <a:pt x="1747781" y="842576"/>
                </a:lnTo>
                <a:lnTo>
                  <a:pt x="174778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AutoShape 11">
            <a:extLst>
              <a:ext uri="{FF2B5EF4-FFF2-40B4-BE49-F238E27FC236}">
                <a16:creationId xmlns:a16="http://schemas.microsoft.com/office/drawing/2014/main" id="{9CB28520-4AAB-99A4-CE9F-3B911567BDEA}"/>
              </a:ext>
            </a:extLst>
          </p:cNvPr>
          <p:cNvSpPr/>
          <p:nvPr userDrawn="1"/>
        </p:nvSpPr>
        <p:spPr>
          <a:xfrm>
            <a:off x="7196748" y="858490"/>
            <a:ext cx="10214952" cy="0"/>
          </a:xfrm>
          <a:prstGeom prst="line">
            <a:avLst/>
          </a:prstGeom>
          <a:ln w="38100" cap="flat">
            <a:gradFill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655F1797-14D2-285A-8D35-61F8DF589587}"/>
              </a:ext>
            </a:extLst>
          </p:cNvPr>
          <p:cNvSpPr/>
          <p:nvPr userDrawn="1"/>
        </p:nvSpPr>
        <p:spPr>
          <a:xfrm rot="10800000" flipV="1">
            <a:off x="-2410" y="3752284"/>
            <a:ext cx="18288000" cy="5692140"/>
          </a:xfrm>
          <a:custGeom>
            <a:avLst/>
            <a:gdLst/>
            <a:ahLst/>
            <a:cxnLst/>
            <a:rect l="l" t="t" r="r" b="b"/>
            <a:pathLst>
              <a:path w="18288000" h="5692140">
                <a:moveTo>
                  <a:pt x="0" y="5692140"/>
                </a:moveTo>
                <a:lnTo>
                  <a:pt x="18288000" y="5692140"/>
                </a:lnTo>
                <a:lnTo>
                  <a:pt x="18288000" y="0"/>
                </a:lnTo>
                <a:lnTo>
                  <a:pt x="0" y="0"/>
                </a:lnTo>
                <a:lnTo>
                  <a:pt x="0" y="569214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CHITE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2">
            <a:extLst>
              <a:ext uri="{FF2B5EF4-FFF2-40B4-BE49-F238E27FC236}">
                <a16:creationId xmlns:a16="http://schemas.microsoft.com/office/drawing/2014/main" id="{ABFC53D4-D380-085A-D4EB-82AC1EC37A28}"/>
              </a:ext>
            </a:extLst>
          </p:cNvPr>
          <p:cNvGrpSpPr/>
          <p:nvPr userDrawn="1"/>
        </p:nvGrpSpPr>
        <p:grpSpPr>
          <a:xfrm rot="5400000">
            <a:off x="8722712" y="721712"/>
            <a:ext cx="842576" cy="18288000"/>
            <a:chOff x="0" y="0"/>
            <a:chExt cx="17992" cy="390515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C26BAC5B-47F7-5E9B-0D06-632F05683205}"/>
                </a:ext>
              </a:extLst>
            </p:cNvPr>
            <p:cNvSpPr/>
            <p:nvPr/>
          </p:nvSpPr>
          <p:spPr>
            <a:xfrm>
              <a:off x="0" y="0"/>
              <a:ext cx="17992" cy="390515"/>
            </a:xfrm>
            <a:custGeom>
              <a:avLst/>
              <a:gdLst/>
              <a:ahLst/>
              <a:cxnLst/>
              <a:rect l="l" t="t" r="r" b="b"/>
              <a:pathLst>
                <a:path w="17992" h="390515">
                  <a:moveTo>
                    <a:pt x="0" y="0"/>
                  </a:moveTo>
                  <a:lnTo>
                    <a:pt x="17992" y="0"/>
                  </a:lnTo>
                  <a:lnTo>
                    <a:pt x="17992" y="390515"/>
                  </a:lnTo>
                  <a:lnTo>
                    <a:pt x="0" y="390515"/>
                  </a:lnTo>
                  <a:close/>
                </a:path>
              </a:pathLst>
            </a:custGeom>
            <a:gradFill rotWithShape="1"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4">
              <a:extLst>
                <a:ext uri="{FF2B5EF4-FFF2-40B4-BE49-F238E27FC236}">
                  <a16:creationId xmlns:a16="http://schemas.microsoft.com/office/drawing/2014/main" id="{3C0060C8-8167-8B28-77FB-2EE92D0D3B11}"/>
                </a:ext>
              </a:extLst>
            </p:cNvPr>
            <p:cNvSpPr txBox="1"/>
            <p:nvPr/>
          </p:nvSpPr>
          <p:spPr>
            <a:xfrm>
              <a:off x="0" y="-28575"/>
              <a:ext cx="17992" cy="419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1" name="TextBox 5">
            <a:extLst>
              <a:ext uri="{FF2B5EF4-FFF2-40B4-BE49-F238E27FC236}">
                <a16:creationId xmlns:a16="http://schemas.microsoft.com/office/drawing/2014/main" id="{EC170168-1E52-8DDF-CA07-D7A07299C37C}"/>
              </a:ext>
            </a:extLst>
          </p:cNvPr>
          <p:cNvSpPr txBox="1"/>
          <p:nvPr userDrawn="1"/>
        </p:nvSpPr>
        <p:spPr>
          <a:xfrm>
            <a:off x="519251" y="307627"/>
            <a:ext cx="5336934" cy="863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>
                <a:solidFill>
                  <a:srgbClr val="FFFFFF"/>
                </a:solidFill>
                <a:latin typeface="Vampire Wars"/>
                <a:ea typeface="Vampire Wars"/>
                <a:cs typeface="Vampire Wars"/>
                <a:sym typeface="Vampire Wars"/>
              </a:rPr>
              <a:t>ARCHITECTURE</a:t>
            </a: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85646D8C-EA9D-A1D6-6DF9-8977EC9C5E67}"/>
              </a:ext>
            </a:extLst>
          </p:cNvPr>
          <p:cNvSpPr txBox="1"/>
          <p:nvPr userDrawn="1"/>
        </p:nvSpPr>
        <p:spPr>
          <a:xfrm>
            <a:off x="6865620" y="9715500"/>
            <a:ext cx="455676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 b="1" spc="10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EMBEDDED DOMAIN</a:t>
            </a: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85210AFA-AE36-36F8-40DE-FA4EA241D0AA}"/>
              </a:ext>
            </a:extLst>
          </p:cNvPr>
          <p:cNvSpPr txBox="1"/>
          <p:nvPr userDrawn="1"/>
        </p:nvSpPr>
        <p:spPr>
          <a:xfrm>
            <a:off x="14343815" y="9697119"/>
            <a:ext cx="2593998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000" b="1" spc="10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PAGE 2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B03BA01C-8C05-0CE6-E485-9825051EE173}"/>
              </a:ext>
            </a:extLst>
          </p:cNvPr>
          <p:cNvSpPr txBox="1"/>
          <p:nvPr userDrawn="1"/>
        </p:nvSpPr>
        <p:spPr>
          <a:xfrm>
            <a:off x="1299426" y="9715500"/>
            <a:ext cx="455676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000" b="1" spc="10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TEAM NAME</a:t>
            </a:r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2F85716F-110E-2712-63C3-29F6325AEB49}"/>
              </a:ext>
            </a:extLst>
          </p:cNvPr>
          <p:cNvSpPr/>
          <p:nvPr userDrawn="1"/>
        </p:nvSpPr>
        <p:spPr>
          <a:xfrm>
            <a:off x="-873890" y="9462804"/>
            <a:ext cx="1747781" cy="842576"/>
          </a:xfrm>
          <a:custGeom>
            <a:avLst/>
            <a:gdLst/>
            <a:ahLst/>
            <a:cxnLst/>
            <a:rect l="l" t="t" r="r" b="b"/>
            <a:pathLst>
              <a:path w="1747781" h="842576">
                <a:moveTo>
                  <a:pt x="0" y="0"/>
                </a:moveTo>
                <a:lnTo>
                  <a:pt x="1747780" y="0"/>
                </a:lnTo>
                <a:lnTo>
                  <a:pt x="1747780" y="842577"/>
                </a:lnTo>
                <a:lnTo>
                  <a:pt x="0" y="8425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Freeform 10">
            <a:extLst>
              <a:ext uri="{FF2B5EF4-FFF2-40B4-BE49-F238E27FC236}">
                <a16:creationId xmlns:a16="http://schemas.microsoft.com/office/drawing/2014/main" id="{EEBD6860-F89C-536A-4A53-1DACFDFD434A}"/>
              </a:ext>
            </a:extLst>
          </p:cNvPr>
          <p:cNvSpPr/>
          <p:nvPr userDrawn="1"/>
        </p:nvSpPr>
        <p:spPr>
          <a:xfrm flipH="1">
            <a:off x="17411700" y="9444424"/>
            <a:ext cx="1747781" cy="842576"/>
          </a:xfrm>
          <a:custGeom>
            <a:avLst/>
            <a:gdLst/>
            <a:ahLst/>
            <a:cxnLst/>
            <a:rect l="l" t="t" r="r" b="b"/>
            <a:pathLst>
              <a:path w="1747781" h="842576">
                <a:moveTo>
                  <a:pt x="1747781" y="0"/>
                </a:moveTo>
                <a:lnTo>
                  <a:pt x="0" y="0"/>
                </a:lnTo>
                <a:lnTo>
                  <a:pt x="0" y="842576"/>
                </a:lnTo>
                <a:lnTo>
                  <a:pt x="1747781" y="842576"/>
                </a:lnTo>
                <a:lnTo>
                  <a:pt x="174778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AutoShape 11">
            <a:extLst>
              <a:ext uri="{FF2B5EF4-FFF2-40B4-BE49-F238E27FC236}">
                <a16:creationId xmlns:a16="http://schemas.microsoft.com/office/drawing/2014/main" id="{1BF6DD7C-51EE-AA86-5BAE-703C8D6C9EC9}"/>
              </a:ext>
            </a:extLst>
          </p:cNvPr>
          <p:cNvSpPr/>
          <p:nvPr userDrawn="1"/>
        </p:nvSpPr>
        <p:spPr>
          <a:xfrm flipV="1">
            <a:off x="5091536" y="829915"/>
            <a:ext cx="12320164" cy="0"/>
          </a:xfrm>
          <a:prstGeom prst="line">
            <a:avLst/>
          </a:prstGeom>
          <a:ln w="38100" cap="flat">
            <a:gradFill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8" name="Freeform 12">
            <a:extLst>
              <a:ext uri="{FF2B5EF4-FFF2-40B4-BE49-F238E27FC236}">
                <a16:creationId xmlns:a16="http://schemas.microsoft.com/office/drawing/2014/main" id="{A9970C6B-7B82-07DC-95BE-A0FC135AF845}"/>
              </a:ext>
            </a:extLst>
          </p:cNvPr>
          <p:cNvSpPr/>
          <p:nvPr userDrawn="1"/>
        </p:nvSpPr>
        <p:spPr>
          <a:xfrm rot="10800000" flipV="1">
            <a:off x="-2410" y="3752284"/>
            <a:ext cx="18288000" cy="5692140"/>
          </a:xfrm>
          <a:custGeom>
            <a:avLst/>
            <a:gdLst/>
            <a:ahLst/>
            <a:cxnLst/>
            <a:rect l="l" t="t" r="r" b="b"/>
            <a:pathLst>
              <a:path w="18288000" h="5692140">
                <a:moveTo>
                  <a:pt x="0" y="5692140"/>
                </a:moveTo>
                <a:lnTo>
                  <a:pt x="18288000" y="5692140"/>
                </a:lnTo>
                <a:lnTo>
                  <a:pt x="18288000" y="0"/>
                </a:lnTo>
                <a:lnTo>
                  <a:pt x="0" y="0"/>
                </a:lnTo>
                <a:lnTo>
                  <a:pt x="0" y="569214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ACT CRE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2">
            <a:extLst>
              <a:ext uri="{FF2B5EF4-FFF2-40B4-BE49-F238E27FC236}">
                <a16:creationId xmlns:a16="http://schemas.microsoft.com/office/drawing/2014/main" id="{2F7FCBA4-8924-4784-8663-A3F60E739B71}"/>
              </a:ext>
            </a:extLst>
          </p:cNvPr>
          <p:cNvGrpSpPr/>
          <p:nvPr userDrawn="1"/>
        </p:nvGrpSpPr>
        <p:grpSpPr>
          <a:xfrm rot="5400000">
            <a:off x="8722712" y="721712"/>
            <a:ext cx="842576" cy="18288000"/>
            <a:chOff x="0" y="0"/>
            <a:chExt cx="17992" cy="390515"/>
          </a:xfrm>
        </p:grpSpPr>
        <p:sp>
          <p:nvSpPr>
            <p:cNvPr id="11" name="Freeform 3">
              <a:extLst>
                <a:ext uri="{FF2B5EF4-FFF2-40B4-BE49-F238E27FC236}">
                  <a16:creationId xmlns:a16="http://schemas.microsoft.com/office/drawing/2014/main" id="{6410AC35-3FCF-44C9-2BB3-F4E701050AE9}"/>
                </a:ext>
              </a:extLst>
            </p:cNvPr>
            <p:cNvSpPr/>
            <p:nvPr/>
          </p:nvSpPr>
          <p:spPr>
            <a:xfrm>
              <a:off x="0" y="0"/>
              <a:ext cx="17992" cy="390515"/>
            </a:xfrm>
            <a:custGeom>
              <a:avLst/>
              <a:gdLst/>
              <a:ahLst/>
              <a:cxnLst/>
              <a:rect l="l" t="t" r="r" b="b"/>
              <a:pathLst>
                <a:path w="17992" h="390515">
                  <a:moveTo>
                    <a:pt x="0" y="0"/>
                  </a:moveTo>
                  <a:lnTo>
                    <a:pt x="17992" y="0"/>
                  </a:lnTo>
                  <a:lnTo>
                    <a:pt x="17992" y="390515"/>
                  </a:lnTo>
                  <a:lnTo>
                    <a:pt x="0" y="390515"/>
                  </a:lnTo>
                  <a:close/>
                </a:path>
              </a:pathLst>
            </a:custGeom>
            <a:gradFill rotWithShape="1"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4">
              <a:extLst>
                <a:ext uri="{FF2B5EF4-FFF2-40B4-BE49-F238E27FC236}">
                  <a16:creationId xmlns:a16="http://schemas.microsoft.com/office/drawing/2014/main" id="{B47D414A-A2E6-A2F1-8B74-B3E093A65E73}"/>
                </a:ext>
              </a:extLst>
            </p:cNvPr>
            <p:cNvSpPr txBox="1"/>
            <p:nvPr/>
          </p:nvSpPr>
          <p:spPr>
            <a:xfrm>
              <a:off x="0" y="-28575"/>
              <a:ext cx="17992" cy="419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3" name="TextBox 5">
            <a:extLst>
              <a:ext uri="{FF2B5EF4-FFF2-40B4-BE49-F238E27FC236}">
                <a16:creationId xmlns:a16="http://schemas.microsoft.com/office/drawing/2014/main" id="{A7DFAE16-8E3B-5F99-4325-B4CE2E66ABBE}"/>
              </a:ext>
            </a:extLst>
          </p:cNvPr>
          <p:cNvSpPr txBox="1"/>
          <p:nvPr userDrawn="1"/>
        </p:nvSpPr>
        <p:spPr>
          <a:xfrm>
            <a:off x="563021" y="345727"/>
            <a:ext cx="5293164" cy="863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>
                <a:solidFill>
                  <a:srgbClr val="FFFFFF"/>
                </a:solidFill>
                <a:latin typeface="Vampire Wars"/>
                <a:ea typeface="Vampire Wars"/>
                <a:cs typeface="Vampire Wars"/>
                <a:sym typeface="Vampire Wars"/>
              </a:rPr>
              <a:t>IMPACT CREATION</a:t>
            </a: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B8BC8D65-9EFF-3316-5D33-16856A8BF1EC}"/>
              </a:ext>
            </a:extLst>
          </p:cNvPr>
          <p:cNvSpPr txBox="1"/>
          <p:nvPr userDrawn="1"/>
        </p:nvSpPr>
        <p:spPr>
          <a:xfrm>
            <a:off x="6865620" y="9715500"/>
            <a:ext cx="455676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 b="1" spc="10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EMBEDDED DOMAIN</a:t>
            </a: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64583B9A-DC2D-8178-8382-39618C896184}"/>
              </a:ext>
            </a:extLst>
          </p:cNvPr>
          <p:cNvSpPr txBox="1"/>
          <p:nvPr userDrawn="1"/>
        </p:nvSpPr>
        <p:spPr>
          <a:xfrm>
            <a:off x="14343815" y="9697119"/>
            <a:ext cx="2593998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000" b="1" spc="10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PAGE 3</a:t>
            </a:r>
          </a:p>
        </p:txBody>
      </p:sp>
      <p:sp>
        <p:nvSpPr>
          <p:cNvPr id="16" name="TextBox 8">
            <a:extLst>
              <a:ext uri="{FF2B5EF4-FFF2-40B4-BE49-F238E27FC236}">
                <a16:creationId xmlns:a16="http://schemas.microsoft.com/office/drawing/2014/main" id="{750AED1A-ACEC-381A-1091-A9E8561B7CFF}"/>
              </a:ext>
            </a:extLst>
          </p:cNvPr>
          <p:cNvSpPr txBox="1"/>
          <p:nvPr userDrawn="1"/>
        </p:nvSpPr>
        <p:spPr>
          <a:xfrm>
            <a:off x="1299426" y="9715500"/>
            <a:ext cx="455676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000" b="1" spc="10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TEAM NAME</a:t>
            </a:r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6A042FBD-FBFA-8B9A-89E4-6386B6842D30}"/>
              </a:ext>
            </a:extLst>
          </p:cNvPr>
          <p:cNvSpPr/>
          <p:nvPr userDrawn="1"/>
        </p:nvSpPr>
        <p:spPr>
          <a:xfrm>
            <a:off x="-873890" y="9462804"/>
            <a:ext cx="1747781" cy="842576"/>
          </a:xfrm>
          <a:custGeom>
            <a:avLst/>
            <a:gdLst/>
            <a:ahLst/>
            <a:cxnLst/>
            <a:rect l="l" t="t" r="r" b="b"/>
            <a:pathLst>
              <a:path w="1747781" h="842576">
                <a:moveTo>
                  <a:pt x="0" y="0"/>
                </a:moveTo>
                <a:lnTo>
                  <a:pt x="1747780" y="0"/>
                </a:lnTo>
                <a:lnTo>
                  <a:pt x="1747780" y="842577"/>
                </a:lnTo>
                <a:lnTo>
                  <a:pt x="0" y="8425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Freeform 10">
            <a:extLst>
              <a:ext uri="{FF2B5EF4-FFF2-40B4-BE49-F238E27FC236}">
                <a16:creationId xmlns:a16="http://schemas.microsoft.com/office/drawing/2014/main" id="{F1C69BF2-99CF-DFDD-2E5A-3ADA89771016}"/>
              </a:ext>
            </a:extLst>
          </p:cNvPr>
          <p:cNvSpPr/>
          <p:nvPr userDrawn="1"/>
        </p:nvSpPr>
        <p:spPr>
          <a:xfrm flipH="1">
            <a:off x="17411700" y="9444424"/>
            <a:ext cx="1747781" cy="842576"/>
          </a:xfrm>
          <a:custGeom>
            <a:avLst/>
            <a:gdLst/>
            <a:ahLst/>
            <a:cxnLst/>
            <a:rect l="l" t="t" r="r" b="b"/>
            <a:pathLst>
              <a:path w="1747781" h="842576">
                <a:moveTo>
                  <a:pt x="1747781" y="0"/>
                </a:moveTo>
                <a:lnTo>
                  <a:pt x="0" y="0"/>
                </a:lnTo>
                <a:lnTo>
                  <a:pt x="0" y="842576"/>
                </a:lnTo>
                <a:lnTo>
                  <a:pt x="1747781" y="842576"/>
                </a:lnTo>
                <a:lnTo>
                  <a:pt x="174778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AutoShape 11">
            <a:extLst>
              <a:ext uri="{FF2B5EF4-FFF2-40B4-BE49-F238E27FC236}">
                <a16:creationId xmlns:a16="http://schemas.microsoft.com/office/drawing/2014/main" id="{B13A6314-A789-9CC7-F398-851794655B04}"/>
              </a:ext>
            </a:extLst>
          </p:cNvPr>
          <p:cNvSpPr/>
          <p:nvPr userDrawn="1"/>
        </p:nvSpPr>
        <p:spPr>
          <a:xfrm flipV="1">
            <a:off x="5991548" y="877540"/>
            <a:ext cx="11410627" cy="0"/>
          </a:xfrm>
          <a:prstGeom prst="line">
            <a:avLst/>
          </a:prstGeom>
          <a:ln w="38100" cap="flat">
            <a:gradFill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0" name="Freeform 12">
            <a:extLst>
              <a:ext uri="{FF2B5EF4-FFF2-40B4-BE49-F238E27FC236}">
                <a16:creationId xmlns:a16="http://schemas.microsoft.com/office/drawing/2014/main" id="{58683A03-E9CD-F32E-DFA8-1486C733775D}"/>
              </a:ext>
            </a:extLst>
          </p:cNvPr>
          <p:cNvSpPr/>
          <p:nvPr userDrawn="1"/>
        </p:nvSpPr>
        <p:spPr>
          <a:xfrm rot="10800000" flipV="1">
            <a:off x="-2410" y="3752284"/>
            <a:ext cx="18288000" cy="5692140"/>
          </a:xfrm>
          <a:custGeom>
            <a:avLst/>
            <a:gdLst/>
            <a:ahLst/>
            <a:cxnLst/>
            <a:rect l="l" t="t" r="r" b="b"/>
            <a:pathLst>
              <a:path w="18288000" h="5692140">
                <a:moveTo>
                  <a:pt x="0" y="5692140"/>
                </a:moveTo>
                <a:lnTo>
                  <a:pt x="18288000" y="5692140"/>
                </a:lnTo>
                <a:lnTo>
                  <a:pt x="18288000" y="0"/>
                </a:lnTo>
                <a:lnTo>
                  <a:pt x="0" y="0"/>
                </a:lnTo>
                <a:lnTo>
                  <a:pt x="0" y="569214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482D8540-FE8E-60F4-79B7-EF018B86A28C}"/>
              </a:ext>
            </a:extLst>
          </p:cNvPr>
          <p:cNvGrpSpPr/>
          <p:nvPr userDrawn="1"/>
        </p:nvGrpSpPr>
        <p:grpSpPr>
          <a:xfrm rot="5400000">
            <a:off x="8722712" y="721712"/>
            <a:ext cx="842576" cy="18288000"/>
            <a:chOff x="0" y="0"/>
            <a:chExt cx="17992" cy="390515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F5032199-7CA0-0220-F325-787986B98735}"/>
                </a:ext>
              </a:extLst>
            </p:cNvPr>
            <p:cNvSpPr/>
            <p:nvPr/>
          </p:nvSpPr>
          <p:spPr>
            <a:xfrm>
              <a:off x="0" y="0"/>
              <a:ext cx="17992" cy="390515"/>
            </a:xfrm>
            <a:custGeom>
              <a:avLst/>
              <a:gdLst/>
              <a:ahLst/>
              <a:cxnLst/>
              <a:rect l="l" t="t" r="r" b="b"/>
              <a:pathLst>
                <a:path w="17992" h="390515">
                  <a:moveTo>
                    <a:pt x="0" y="0"/>
                  </a:moveTo>
                  <a:lnTo>
                    <a:pt x="17992" y="0"/>
                  </a:lnTo>
                  <a:lnTo>
                    <a:pt x="17992" y="390515"/>
                  </a:lnTo>
                  <a:lnTo>
                    <a:pt x="0" y="390515"/>
                  </a:lnTo>
                  <a:close/>
                </a:path>
              </a:pathLst>
            </a:custGeom>
            <a:gradFill rotWithShape="1"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52F5FB7E-B613-C846-CB5D-FC080424FAB0}"/>
                </a:ext>
              </a:extLst>
            </p:cNvPr>
            <p:cNvSpPr txBox="1"/>
            <p:nvPr/>
          </p:nvSpPr>
          <p:spPr>
            <a:xfrm>
              <a:off x="0" y="-28575"/>
              <a:ext cx="17992" cy="419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9" name="Freeform 5">
            <a:extLst>
              <a:ext uri="{FF2B5EF4-FFF2-40B4-BE49-F238E27FC236}">
                <a16:creationId xmlns:a16="http://schemas.microsoft.com/office/drawing/2014/main" id="{2555CA78-D79C-1347-655A-3AD24539B5AE}"/>
              </a:ext>
            </a:extLst>
          </p:cNvPr>
          <p:cNvSpPr/>
          <p:nvPr userDrawn="1"/>
        </p:nvSpPr>
        <p:spPr>
          <a:xfrm>
            <a:off x="-873890" y="9462804"/>
            <a:ext cx="1747781" cy="842576"/>
          </a:xfrm>
          <a:custGeom>
            <a:avLst/>
            <a:gdLst/>
            <a:ahLst/>
            <a:cxnLst/>
            <a:rect l="l" t="t" r="r" b="b"/>
            <a:pathLst>
              <a:path w="1747781" h="842576">
                <a:moveTo>
                  <a:pt x="0" y="0"/>
                </a:moveTo>
                <a:lnTo>
                  <a:pt x="1747780" y="0"/>
                </a:lnTo>
                <a:lnTo>
                  <a:pt x="1747780" y="842577"/>
                </a:lnTo>
                <a:lnTo>
                  <a:pt x="0" y="8425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7D3B0B44-9D15-9AE0-E811-B432F6790C03}"/>
              </a:ext>
            </a:extLst>
          </p:cNvPr>
          <p:cNvSpPr/>
          <p:nvPr userDrawn="1"/>
        </p:nvSpPr>
        <p:spPr>
          <a:xfrm flipH="1">
            <a:off x="17411700" y="9444424"/>
            <a:ext cx="1747781" cy="842576"/>
          </a:xfrm>
          <a:custGeom>
            <a:avLst/>
            <a:gdLst/>
            <a:ahLst/>
            <a:cxnLst/>
            <a:rect l="l" t="t" r="r" b="b"/>
            <a:pathLst>
              <a:path w="1747781" h="842576">
                <a:moveTo>
                  <a:pt x="1747781" y="0"/>
                </a:moveTo>
                <a:lnTo>
                  <a:pt x="0" y="0"/>
                </a:lnTo>
                <a:lnTo>
                  <a:pt x="0" y="842576"/>
                </a:lnTo>
                <a:lnTo>
                  <a:pt x="1747781" y="842576"/>
                </a:lnTo>
                <a:lnTo>
                  <a:pt x="174778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677EA917-78AC-E3D4-BF70-B5C3170F8C22}"/>
              </a:ext>
            </a:extLst>
          </p:cNvPr>
          <p:cNvSpPr/>
          <p:nvPr userDrawn="1"/>
        </p:nvSpPr>
        <p:spPr>
          <a:xfrm rot="10800000" flipV="1">
            <a:off x="-2410" y="3752284"/>
            <a:ext cx="18288000" cy="5692140"/>
          </a:xfrm>
          <a:custGeom>
            <a:avLst/>
            <a:gdLst/>
            <a:ahLst/>
            <a:cxnLst/>
            <a:rect l="l" t="t" r="r" b="b"/>
            <a:pathLst>
              <a:path w="18288000" h="5692140">
                <a:moveTo>
                  <a:pt x="0" y="5692140"/>
                </a:moveTo>
                <a:lnTo>
                  <a:pt x="18288000" y="5692140"/>
                </a:lnTo>
                <a:lnTo>
                  <a:pt x="18288000" y="0"/>
                </a:lnTo>
                <a:lnTo>
                  <a:pt x="0" y="0"/>
                </a:lnTo>
                <a:lnTo>
                  <a:pt x="0" y="569214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2" name="Group 8">
            <a:extLst>
              <a:ext uri="{FF2B5EF4-FFF2-40B4-BE49-F238E27FC236}">
                <a16:creationId xmlns:a16="http://schemas.microsoft.com/office/drawing/2014/main" id="{263BDA5B-B841-E938-76D9-D3A83E6871C4}"/>
              </a:ext>
            </a:extLst>
          </p:cNvPr>
          <p:cNvGrpSpPr/>
          <p:nvPr userDrawn="1"/>
        </p:nvGrpSpPr>
        <p:grpSpPr>
          <a:xfrm>
            <a:off x="1028700" y="4483606"/>
            <a:ext cx="16230600" cy="4337995"/>
            <a:chOff x="0" y="0"/>
            <a:chExt cx="3339630" cy="892592"/>
          </a:xfrm>
        </p:grpSpPr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E7C2D291-2492-055D-BF3F-AC9AD8F13EAA}"/>
                </a:ext>
              </a:extLst>
            </p:cNvPr>
            <p:cNvSpPr/>
            <p:nvPr/>
          </p:nvSpPr>
          <p:spPr>
            <a:xfrm>
              <a:off x="0" y="0"/>
              <a:ext cx="3339629" cy="892592"/>
            </a:xfrm>
            <a:custGeom>
              <a:avLst/>
              <a:gdLst/>
              <a:ahLst/>
              <a:cxnLst/>
              <a:rect l="l" t="t" r="r" b="b"/>
              <a:pathLst>
                <a:path w="3339629" h="892592">
                  <a:moveTo>
                    <a:pt x="9316" y="0"/>
                  </a:moveTo>
                  <a:lnTo>
                    <a:pt x="3330313" y="0"/>
                  </a:lnTo>
                  <a:cubicBezTo>
                    <a:pt x="3335458" y="0"/>
                    <a:pt x="3339629" y="4171"/>
                    <a:pt x="3339629" y="9316"/>
                  </a:cubicBezTo>
                  <a:lnTo>
                    <a:pt x="3339629" y="883275"/>
                  </a:lnTo>
                  <a:cubicBezTo>
                    <a:pt x="3339629" y="888420"/>
                    <a:pt x="3335458" y="892592"/>
                    <a:pt x="3330313" y="892592"/>
                  </a:cubicBezTo>
                  <a:lnTo>
                    <a:pt x="9316" y="892592"/>
                  </a:lnTo>
                  <a:cubicBezTo>
                    <a:pt x="4171" y="892592"/>
                    <a:pt x="0" y="888420"/>
                    <a:pt x="0" y="883275"/>
                  </a:cubicBezTo>
                  <a:lnTo>
                    <a:pt x="0" y="9316"/>
                  </a:lnTo>
                  <a:cubicBezTo>
                    <a:pt x="0" y="4171"/>
                    <a:pt x="4171" y="0"/>
                    <a:pt x="9316" y="0"/>
                  </a:cubicBezTo>
                  <a:close/>
                </a:path>
              </a:pathLst>
            </a:custGeom>
            <a:ln w="47625" cap="rnd">
              <a:solidFill>
                <a:srgbClr val="F5F5DC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0">
              <a:extLst>
                <a:ext uri="{FF2B5EF4-FFF2-40B4-BE49-F238E27FC236}">
                  <a16:creationId xmlns:a16="http://schemas.microsoft.com/office/drawing/2014/main" id="{6241E48C-1F7A-7389-5DAC-A425435DA012}"/>
                </a:ext>
              </a:extLst>
            </p:cNvPr>
            <p:cNvSpPr txBox="1"/>
            <p:nvPr/>
          </p:nvSpPr>
          <p:spPr>
            <a:xfrm>
              <a:off x="0" y="-19050"/>
              <a:ext cx="3339630" cy="9116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5" name="TextBox 11">
            <a:extLst>
              <a:ext uri="{FF2B5EF4-FFF2-40B4-BE49-F238E27FC236}">
                <a16:creationId xmlns:a16="http://schemas.microsoft.com/office/drawing/2014/main" id="{41B19D9B-F4DA-5B52-0CF3-AD8A5370C52B}"/>
              </a:ext>
            </a:extLst>
          </p:cNvPr>
          <p:cNvSpPr txBox="1"/>
          <p:nvPr userDrawn="1"/>
        </p:nvSpPr>
        <p:spPr>
          <a:xfrm>
            <a:off x="1036747" y="694370"/>
            <a:ext cx="16222553" cy="2162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76"/>
              </a:lnSpc>
            </a:pPr>
            <a:r>
              <a:rPr lang="en-US" sz="12554">
                <a:solidFill>
                  <a:srgbClr val="FFFFFF"/>
                </a:solidFill>
                <a:latin typeface="Vampire Wars"/>
                <a:ea typeface="Vampire Wars"/>
                <a:cs typeface="Vampire Wars"/>
                <a:sym typeface="Vampire Wars"/>
              </a:rPr>
              <a:t>DESIGN.BUILD.DEPLOY</a:t>
            </a:r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746C8F81-1901-D28D-873D-6732E4741406}"/>
              </a:ext>
            </a:extLst>
          </p:cNvPr>
          <p:cNvSpPr txBox="1"/>
          <p:nvPr userDrawn="1"/>
        </p:nvSpPr>
        <p:spPr>
          <a:xfrm>
            <a:off x="6865620" y="9715500"/>
            <a:ext cx="455676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 b="1" spc="10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EMBEDDED DOMAIN</a:t>
            </a:r>
          </a:p>
        </p:txBody>
      </p:sp>
      <p:sp>
        <p:nvSpPr>
          <p:cNvPr id="17" name="TextBox 13">
            <a:extLst>
              <a:ext uri="{FF2B5EF4-FFF2-40B4-BE49-F238E27FC236}">
                <a16:creationId xmlns:a16="http://schemas.microsoft.com/office/drawing/2014/main" id="{221EA566-D1F7-4201-DA85-EA174BFCF530}"/>
              </a:ext>
            </a:extLst>
          </p:cNvPr>
          <p:cNvSpPr txBox="1"/>
          <p:nvPr userDrawn="1"/>
        </p:nvSpPr>
        <p:spPr>
          <a:xfrm>
            <a:off x="14343815" y="9697119"/>
            <a:ext cx="2593998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000" b="1" spc="10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PAGE 4</a:t>
            </a:r>
          </a:p>
        </p:txBody>
      </p:sp>
      <p:sp>
        <p:nvSpPr>
          <p:cNvPr id="18" name="TextBox 14">
            <a:extLst>
              <a:ext uri="{FF2B5EF4-FFF2-40B4-BE49-F238E27FC236}">
                <a16:creationId xmlns:a16="http://schemas.microsoft.com/office/drawing/2014/main" id="{C189CDBD-4E36-18BB-840D-762E8938C431}"/>
              </a:ext>
            </a:extLst>
          </p:cNvPr>
          <p:cNvSpPr txBox="1"/>
          <p:nvPr userDrawn="1"/>
        </p:nvSpPr>
        <p:spPr>
          <a:xfrm>
            <a:off x="1299426" y="9715500"/>
            <a:ext cx="455676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000" b="1" spc="10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TEAM NAME</a:t>
            </a:r>
          </a:p>
        </p:txBody>
      </p:sp>
      <p:sp>
        <p:nvSpPr>
          <p:cNvPr id="19" name="TextBox 15">
            <a:extLst>
              <a:ext uri="{FF2B5EF4-FFF2-40B4-BE49-F238E27FC236}">
                <a16:creationId xmlns:a16="http://schemas.microsoft.com/office/drawing/2014/main" id="{A4473755-BFB2-1EEE-F94C-1E47486792F5}"/>
              </a:ext>
            </a:extLst>
          </p:cNvPr>
          <p:cNvSpPr txBox="1"/>
          <p:nvPr userDrawn="1"/>
        </p:nvSpPr>
        <p:spPr>
          <a:xfrm>
            <a:off x="1745177" y="3814123"/>
            <a:ext cx="14805694" cy="378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2"/>
              </a:lnSpc>
            </a:pPr>
            <a:r>
              <a:rPr lang="en-US" sz="2422" b="1" spc="121" dirty="0">
                <a:gradFill>
                  <a:gsLst>
                    <a:gs pos="0">
                      <a:srgbClr val="F7B200">
                        <a:alpha val="100000"/>
                      </a:srgbClr>
                    </a:gs>
                    <a:gs pos="100000">
                      <a:srgbClr val="FF951A">
                        <a:alpha val="100000"/>
                      </a:srgbClr>
                    </a:gs>
                  </a:gsLst>
                  <a:lin ang="540000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Why are we the team that can turn this idea into a real implementable solution?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A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4770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0">
            <a:extLst>
              <a:ext uri="{FF2B5EF4-FFF2-40B4-BE49-F238E27FC236}">
                <a16:creationId xmlns:a16="http://schemas.microsoft.com/office/drawing/2014/main" id="{91670BBE-58DA-D750-3D0E-B2A0B3A31124}"/>
              </a:ext>
            </a:extLst>
          </p:cNvPr>
          <p:cNvSpPr txBox="1"/>
          <p:nvPr/>
        </p:nvSpPr>
        <p:spPr>
          <a:xfrm>
            <a:off x="2133600" y="6819900"/>
            <a:ext cx="6604123" cy="819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5"/>
              </a:lnSpc>
            </a:pPr>
            <a:r>
              <a:rPr lang="en-US" sz="2583" b="1" spc="129" dirty="0">
                <a:solidFill>
                  <a:srgbClr val="11163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TEAM NAME:</a:t>
            </a:r>
          </a:p>
          <a:p>
            <a:pPr algn="l">
              <a:lnSpc>
                <a:spcPts val="3255"/>
              </a:lnSpc>
            </a:pPr>
            <a:r>
              <a:rPr lang="en-US" sz="2583" b="1" spc="129" dirty="0">
                <a:solidFill>
                  <a:srgbClr val="11163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PSID:</a:t>
            </a:r>
          </a:p>
        </p:txBody>
      </p:sp>
      <p:sp>
        <p:nvSpPr>
          <p:cNvPr id="3" name="TextBox 21">
            <a:extLst>
              <a:ext uri="{FF2B5EF4-FFF2-40B4-BE49-F238E27FC236}">
                <a16:creationId xmlns:a16="http://schemas.microsoft.com/office/drawing/2014/main" id="{C3A12786-4442-4776-1844-5E7333F0BF5C}"/>
              </a:ext>
            </a:extLst>
          </p:cNvPr>
          <p:cNvSpPr txBox="1"/>
          <p:nvPr/>
        </p:nvSpPr>
        <p:spPr>
          <a:xfrm>
            <a:off x="2786153" y="6088803"/>
            <a:ext cx="6604123" cy="445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7"/>
              </a:lnSpc>
            </a:pPr>
            <a:r>
              <a:rPr lang="en-US" sz="2783" b="1" spc="139" dirty="0">
                <a:solidFill>
                  <a:srgbClr val="001ABD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PROTOTYPE/ PROJECT TITLE</a:t>
            </a:r>
          </a:p>
        </p:txBody>
      </p:sp>
    </p:spTree>
    <p:extLst>
      <p:ext uri="{BB962C8B-B14F-4D97-AF65-F5344CB8AC3E}">
        <p14:creationId xmlns:p14="http://schemas.microsoft.com/office/powerpoint/2010/main" val="3084694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3">
            <a:extLst>
              <a:ext uri="{FF2B5EF4-FFF2-40B4-BE49-F238E27FC236}">
                <a16:creationId xmlns:a16="http://schemas.microsoft.com/office/drawing/2014/main" id="{E10AAD9B-C9AF-B674-114E-2A084989EB51}"/>
              </a:ext>
            </a:extLst>
          </p:cNvPr>
          <p:cNvSpPr txBox="1"/>
          <p:nvPr/>
        </p:nvSpPr>
        <p:spPr>
          <a:xfrm>
            <a:off x="685800" y="1790700"/>
            <a:ext cx="16535400" cy="64909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81"/>
              </a:lnSpc>
            </a:pPr>
            <a:r>
              <a:rPr lang="en-US" sz="2400" b="1" spc="134" dirty="0">
                <a:solidFill>
                  <a:srgbClr val="FFC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Content: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Analyze the problem statement 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Identify the root cause(s) of the problem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Who experiences this problem? (users / stakeholders)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What are the current limitations of existing solutions (if exists)?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endParaRPr lang="en-US" sz="2400" spc="134" dirty="0">
              <a:solidFill>
                <a:srgbClr val="F5F5DC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  <a:p>
            <a:pPr algn="l">
              <a:lnSpc>
                <a:spcPts val="3381"/>
              </a:lnSpc>
            </a:pPr>
            <a:r>
              <a:rPr lang="en-US" sz="2400" b="1" spc="134" dirty="0">
                <a:solidFill>
                  <a:srgbClr val="FFC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Visuals: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One real-world problem scenario image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Statistical data with source supporting the problem claims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endParaRPr lang="en-US" sz="2400" spc="134" dirty="0">
              <a:solidFill>
                <a:srgbClr val="F5F5DC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  <a:p>
            <a:pPr marL="289679" lvl="1" algn="l">
              <a:lnSpc>
                <a:spcPts val="3381"/>
              </a:lnSpc>
            </a:pPr>
            <a:r>
              <a:rPr lang="en-US" sz="2400" b="1" spc="134" dirty="0">
                <a:solidFill>
                  <a:srgbClr val="FFC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Suggestions: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Understand the problem using first-principles thinking before designing a solution.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Break the problem into cause → effect → impact.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Use visual representations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AI can assist in research, but your analysis and creativity should drive the presentation.</a:t>
            </a:r>
          </a:p>
        </p:txBody>
      </p:sp>
    </p:spTree>
    <p:extLst>
      <p:ext uri="{BB962C8B-B14F-4D97-AF65-F5344CB8AC3E}">
        <p14:creationId xmlns:p14="http://schemas.microsoft.com/office/powerpoint/2010/main" val="486523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3">
            <a:extLst>
              <a:ext uri="{FF2B5EF4-FFF2-40B4-BE49-F238E27FC236}">
                <a16:creationId xmlns:a16="http://schemas.microsoft.com/office/drawing/2014/main" id="{1384F52A-717C-0808-40B4-C0508BC1E7EB}"/>
              </a:ext>
            </a:extLst>
          </p:cNvPr>
          <p:cNvSpPr txBox="1"/>
          <p:nvPr/>
        </p:nvSpPr>
        <p:spPr>
          <a:xfrm>
            <a:off x="685800" y="1790700"/>
            <a:ext cx="16535400" cy="60549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81"/>
              </a:lnSpc>
            </a:pPr>
            <a:r>
              <a:rPr lang="en-US" sz="2400" b="1" spc="134" dirty="0">
                <a:solidFill>
                  <a:srgbClr val="FFC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Content: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High-level overview of your proposed solution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System architecture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Key hardware and software technologies used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Basic system workflow or algorithm</a:t>
            </a:r>
          </a:p>
          <a:p>
            <a:pPr marL="289679" lvl="1" algn="l">
              <a:lnSpc>
                <a:spcPts val="3381"/>
              </a:lnSpc>
            </a:pPr>
            <a:endParaRPr lang="en-US" sz="2400" spc="134" dirty="0">
              <a:solidFill>
                <a:srgbClr val="F5F5DC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  <a:p>
            <a:pPr algn="l">
              <a:lnSpc>
                <a:spcPts val="3381"/>
              </a:lnSpc>
            </a:pPr>
            <a:r>
              <a:rPr lang="en-US" sz="2400" b="1" spc="134" dirty="0">
                <a:solidFill>
                  <a:srgbClr val="FFC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Visuals: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System architecture block diagram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endParaRPr lang="en-US" sz="2400" spc="134" dirty="0">
              <a:solidFill>
                <a:srgbClr val="F5F5DC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  <a:p>
            <a:pPr marL="289679" lvl="1" algn="l">
              <a:lnSpc>
                <a:spcPts val="3381"/>
              </a:lnSpc>
            </a:pPr>
            <a:r>
              <a:rPr lang="en-US" sz="2400" b="1" spc="134" dirty="0">
                <a:solidFill>
                  <a:srgbClr val="FFC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Suggestions: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Focus on how the system works, not just what it does.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Clearly show input → processing → output flow.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Justify why the selected hardware, sensors, protocols, or algorithms are suitable.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Keep diagrams simple and readable</a:t>
            </a:r>
          </a:p>
        </p:txBody>
      </p:sp>
    </p:spTree>
    <p:extLst>
      <p:ext uri="{BB962C8B-B14F-4D97-AF65-F5344CB8AC3E}">
        <p14:creationId xmlns:p14="http://schemas.microsoft.com/office/powerpoint/2010/main" val="2362505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3">
            <a:extLst>
              <a:ext uri="{FF2B5EF4-FFF2-40B4-BE49-F238E27FC236}">
                <a16:creationId xmlns:a16="http://schemas.microsoft.com/office/drawing/2014/main" id="{E6AE6FCE-0C43-FA21-92D7-B499EEA834D2}"/>
              </a:ext>
            </a:extLst>
          </p:cNvPr>
          <p:cNvSpPr txBox="1"/>
          <p:nvPr/>
        </p:nvSpPr>
        <p:spPr>
          <a:xfrm>
            <a:off x="685800" y="1790700"/>
            <a:ext cx="16535400" cy="64909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81"/>
              </a:lnSpc>
            </a:pPr>
            <a:r>
              <a:rPr lang="en-US" sz="2400" b="1" spc="134" dirty="0">
                <a:solidFill>
                  <a:srgbClr val="FFC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Content: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What real-world problem impact does your solution create?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How does your solution improve the current situation?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Potential business opportunity or scalability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Estimated cost of building and deploying the solution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endParaRPr lang="en-US" sz="2400" spc="134" dirty="0">
              <a:solidFill>
                <a:srgbClr val="F5F5DC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  <a:p>
            <a:pPr algn="l">
              <a:lnSpc>
                <a:spcPts val="3381"/>
              </a:lnSpc>
            </a:pPr>
            <a:r>
              <a:rPr lang="en-US" sz="2400" b="1" spc="134" dirty="0">
                <a:solidFill>
                  <a:srgbClr val="FFC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Visuals: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One impact diagram showing problem → solution → benefit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Simple cost estimation chart or table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endParaRPr lang="en-US" sz="2400" spc="134" dirty="0">
              <a:solidFill>
                <a:srgbClr val="F5F5DC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  <a:p>
            <a:pPr marL="289679" lvl="1" algn="l">
              <a:lnSpc>
                <a:spcPts val="3381"/>
              </a:lnSpc>
            </a:pPr>
            <a:r>
              <a:rPr lang="en-US" sz="2400" b="1" spc="134" dirty="0">
                <a:solidFill>
                  <a:srgbClr val="FFC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Suggestions: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Clearly explain how your solution changes the real world.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Consider technical feasibility, affordability, and scalability..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Think about who will adopt the solution and why.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Show approximate cost and deployment feasibility</a:t>
            </a:r>
          </a:p>
        </p:txBody>
      </p:sp>
    </p:spTree>
    <p:extLst>
      <p:ext uri="{BB962C8B-B14F-4D97-AF65-F5344CB8AC3E}">
        <p14:creationId xmlns:p14="http://schemas.microsoft.com/office/powerpoint/2010/main" val="1681552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6">
            <a:extLst>
              <a:ext uri="{FF2B5EF4-FFF2-40B4-BE49-F238E27FC236}">
                <a16:creationId xmlns:a16="http://schemas.microsoft.com/office/drawing/2014/main" id="{EDCC5969-548E-B40E-1C6A-6744D8F807A7}"/>
              </a:ext>
            </a:extLst>
          </p:cNvPr>
          <p:cNvSpPr txBox="1"/>
          <p:nvPr/>
        </p:nvSpPr>
        <p:spPr>
          <a:xfrm>
            <a:off x="2932574" y="5448300"/>
            <a:ext cx="12422851" cy="1248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1"/>
              </a:lnSpc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Define </a:t>
            </a:r>
            <a:r>
              <a:rPr lang="en-US" sz="2683" b="1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WHY</a:t>
            </a: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 should we shortlist you over other submissions ?</a:t>
            </a:r>
            <a:b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</a:br>
            <a:b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</a:br>
            <a:r>
              <a:rPr lang="en-US" sz="2000" i="1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Keep it within this box  [“Ideas are common. Execution makes the difference.”]</a:t>
            </a:r>
          </a:p>
        </p:txBody>
      </p:sp>
    </p:spTree>
    <p:extLst>
      <p:ext uri="{BB962C8B-B14F-4D97-AF65-F5344CB8AC3E}">
        <p14:creationId xmlns:p14="http://schemas.microsoft.com/office/powerpoint/2010/main" val="2054117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289</Words>
  <Application>Microsoft Office PowerPoint</Application>
  <PresentationFormat>Custom</PresentationFormat>
  <Paragraphs>48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Montserrat</vt:lpstr>
      <vt:lpstr>Montserrat Classic</vt:lpstr>
      <vt:lpstr>Dekko</vt:lpstr>
      <vt:lpstr>Canva Sans Bold</vt:lpstr>
      <vt:lpstr>Vampire Wars</vt:lpstr>
      <vt:lpstr>Montserrat Classic Bold</vt:lpstr>
      <vt:lpstr>Arial</vt:lpstr>
      <vt:lpstr>Montserrat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SYMBIOT 2026 EMBD PPT</dc:title>
  <dc:creator>dhanush s</dc:creator>
  <cp:lastModifiedBy>dhanush s</cp:lastModifiedBy>
  <cp:revision>6</cp:revision>
  <dcterms:created xsi:type="dcterms:W3CDTF">2006-08-16T00:00:00Z</dcterms:created>
  <dcterms:modified xsi:type="dcterms:W3CDTF">2026-03-13T07:36:31Z</dcterms:modified>
  <dc:identifier>DAHC6-eptYE</dc:identifier>
</cp:coreProperties>
</file>